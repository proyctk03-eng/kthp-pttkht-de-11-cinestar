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4A3B8"/>
                </a:solidFill>
              </a:defRPr>
            </a:pPr>
            <a:r>
              <a:t>ĐẠI HỌC THÁI NGUYÊN — TRƯỜNG ĐẠI HỌC CNTT &amp; TRUYỀN THÔNG (ICTU)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8BDF8"/>
                </a:solidFill>
              </a:defRPr>
            </a:pPr>
            <a:r>
              <a:t>BÁO CÁO KẾT THÚC HỌC PHẦN</a:t>
            </a:r>
          </a:p>
          <a:p>
            <a:pPr>
              <a:spcAft>
                <a:spcPts val="600"/>
              </a:spcAft>
              <a:defRPr sz="3000" b="1">
                <a:solidFill>
                  <a:srgbClr val="F8FAFC"/>
                </a:solidFill>
              </a:defRPr>
            </a:pPr>
            <a:r>
              <a:t>ĐỀ TÀI 11: HỆ THỐNG ĐẶT VÉ XEM PHIM &amp; SỰ KIỆN TRỰC TUYẾN</a:t>
            </a:r>
          </a:p>
          <a:p>
            <a:pPr>
              <a:defRPr sz="1400">
                <a:solidFill>
                  <a:srgbClr val="FBBF24"/>
                </a:solidFill>
              </a:defRPr>
            </a:pPr>
            <a:r>
              <a:t>Kiến trúc Fullstack Động • Nginx Reverse Proxy • CSDL MySQL 3NF • Cụm Giám Sát Prometheus - Grafana - Loki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10360152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9784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THÔNG TIN SINH VIÊN BẢO VỆ: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</a:defRPr>
            </a:pPr>
            <a:r>
              <a:t>Họ và tên: NGUYỄN TUẤN ĐẠT      |      Mã sinh viên: DTC245200452      |      Lớp: K23C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Học phần: Triển khai và Quản trị Hệ thống Phần mềm   •   Năm học: 2025 - 2026   •   Thái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HỌC PHẦN: TRIỂN KHAI VÀ QUẢN TRỊ HỆ THỐNG PHẦN MỀM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1. Tổng Quan Bài Toán &amp; Mục Tiêu Triển Khai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Vấn Đề Thực Tiễn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Hệ thống bán vé giờ cao điểm chịu tải đột biến (Flash Traffic).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Nguy cơ cao xảy ra xung đột: 2 khách hàng đặt trùng 1 ghế tại cùng 1 giây (Race Condition).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Thiếu cơ chế giám sát thời gian thực dẫn đến khó phát hiện sự cố máy chủ kịp thời.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Môi trường phân mảnh giữa máy phát triển và máy chấm thi.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Giải Pháp Kỹ Thuật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Web App Full-stack hoàn chỉnh (Node.js/Express + MySQL 3NF).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Tuyệt đối không phải web tĩnh: Lưu trữ động, sinh vé điện tử có mã QR.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ACID Transaction với cơ chế khóa dòng 'FOR UPDATE' chống đặt trùng ghế.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Cổng Nginx Reverse Proxy bảo mật SSL/TLS, ngăn chặn tấn công DDoS/Spam.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BBF24"/>
                </a:solidFill>
              </a:defRPr>
            </a:pPr>
            <a:r>
              <a:t>Mục Tiêu Đạt Chuẩn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Tiêu chí 1: Kiến trúc Full-stack &amp; Database động 3NF.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Tiêu chí 2: Reverse Proxy Nginx &amp; Bảo mật Container Non-root.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Tiêu chí 3: Cụm Prometheus + Grafana giám sát toàn diện.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Tiêu chí 4: Hệ thống Log tập trung Grafana Loki &amp; Promtail.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Tiêu chí 5: Khởi động 1 chạm tự động (RUN.bat) mọi máy tính.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HỌC PHẦN: TRIỂN KHAI VÀ QUẢN TRỊ HỆ THỐNG PHẦN MỀM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2. Kiến Trúc Triển Khai Đa Tầng (Multi-Tier Architecture)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Tầng Cổng Vào (Gateway)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Nginx Reverse Proxy (Alpine).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SSL/TLS Termination tự ký an toàn.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HTTP (Port 80) tự động chuyển hướng 301 sang HTTPS (Port 443).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Security Headers: X-Frame, X-XSS, HSTS, X-Content-Type.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Rate Limiting: Giới hạn tối đa 5 req/s cho API đặt vé.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Tầng Nghiệp Vụ &amp; Dữ Liệu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Web App Node.js v20 LTS (Port 3000).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Chạy dưới Non-root user (node:node).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Phân tách 2 mạng Docker Network riêng biệt: frontend_net và backend_net.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MySQL 8.0 chuẩn 3NF: Lưu lịch chiếu, phòng chiếu, đặt vé và người dùng.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Khóa ACID Transaction khi đặt 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Tầng Giám Sát &amp; Log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Prometheus (Port 9090): Cào chỉ số hệ thống và ứng dụng Node.js.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Grafana (Port 3001): Trực quan hóa số liệu qua Dashboard tự động nạp.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Loki (Port 3100) &amp; Promtail: Thu gom log máy chủ và phân tích LogQL.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phpMyAdmin (Port 8080): Quản trị trực quan CSDL.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HỌC PHẦN: TRIỂN KHAI VÀ QUẢN TRỊ HỆ THỐNG PHẦN MỀM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3. Các Tính Năng Nghiệp Vụ Cốt Lõi Đã Hoàn Thiện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🎬 Danh Mục Phim &amp; Suất Chiếu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Giao diện chuẩn Dark Cinema sang trọng, lọc phim chiếu rạp và sự kiện ca nhạc.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Chi tiết suất chiếu theo phòng chiếu tiêu chuẩn, phòng IMAX và Dolby Atmos.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💺 Sơ Đồ Ghế Ngồi 3D Thông Minh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Mô phỏng màn hình vòm cong 3D rạp chiếu hiện đại.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Phân loại ghế: Ghế Standard, Ghế VIP, Ghế Sweetbox đôi.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Ghế đã đặt bị khóa tự động theo dữ liệu thực từ CSDL MySQL.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💳 Thanh Toán &amp; Chống Trùng Ghế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Mô phỏng thanh toán MoMo, VNPAY QR, Chuyển khoản ngân hàng.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Thuật toán ACID khóa dòng CSDL đảm bảo không bao giờ bị trùng ghế.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🎫 Vé Điện Tử E-Ticket &amp; Mã QR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Sinh mã vé tự động chuẩn mã sinh viên: TKT-DTC24520-XXXX.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Mã QR Code tra cứu tức thì, có nút 'In vé / Lưu PDF' trực tiếp.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HỌC PHẦN: TRIỂN KHAI VÀ QUẢN TRỊ HỆ THỐNG PHẦN MỀM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4. Giám Sát Hiệu Năng &amp; Hệ Thống Log Tập Trung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Prometheus Metrics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Endpoint nội bộ: /metrics của ứng dụng Node.js.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Thu thập metrics: Tần suất request HTTP, độ trễ phản hồi (Latency), RAM/CPU.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Đo lường Business Metrics: Tổng số vé đã đặt, doanh thu tích lũy theo thời gian thực.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Grafana Dashboards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Tự động Provisioning Datasource &amp; Dashboard ngay khi khởi động.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Trực quan hóa bảng đồng hồ CPU, Memory, Request Rate và Active Sessions.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Cảnh báo ngưỡng quá tải tài nguyên thông qua màu sắc trực quan.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Loki &amp; LogQL Truy Vấn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Lọc toàn bộ log ứng dụng: {container="ticket-app"}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Audit log nghiệp vụ: {container="ticket-app"} |= "BOOKING_SUCCESS"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Cảnh báo lỗi Nginx 4xx/5xx: {container="nginx"} |~ " (4[0-9]{2}|5[0-9]{2}) 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HỌC PHẦN: TRIỂN KHAI VÀ QUẢN TRỊ HỆ THỐNG PHẦN MỀM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5. Biện Pháp Bảo Mật &amp; Kịch Bản Khởi Động 1 Chạm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Biện Pháp Bảo Mật Cấp Hệ Thống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Non-root Container: Ứng dụng chạy dưới user 'node', loại bỏ nguy cơ chiếm quyền host.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Docker Network Isolation: Cô lập hoàn toàn MySQL trong mạng backend_net.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Rate Limiting &amp; Security Headers: Chống DDoS, clickjacking, XSS trên tầng Nginx.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Giới hạn tài nguyên (Resource Limits): Khai báo giới hạn RAM/CPU cho từng service.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ACID Transactions: Bảo toàn tính toàn vẹn dữ liệu tài chính và vé xem phim.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Kịch Bản Khởi Chạy 1 Chạm (RUN.bat)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Tự động phát hiện môi trường máy tính khi chấm thi: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• Máy có Docker: Tự chạy 'docker compose up -d' nạp đầy đủ 6 containers.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• Máy không có Docker: Tự động kích hoạt cơ chế Dual-Engine In-Memory siêu nhẹ.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Tự động mở trình duyệt web điều hướng đến giao diện đặt vé.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File STOP.bat đi kèm dọn dẹp sạch sẽ toàn bộ tiến trình sau khi hoàn thành buổi bảo vệ.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000" b="1">
                <a:solidFill>
                  <a:srgbClr val="38BDF8"/>
                </a:solidFill>
              </a:defRPr>
            </a:pPr>
            <a:r>
              <a:t>TỔNG KẾT &amp; HOÀN THÀNH MỤC TIÊU HỌC PHẦN</a:t>
            </a:r>
          </a:p>
          <a:p>
            <a:pPr algn="ctr"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Hệ thống đáp ứng 100% các tiêu chí triển khai khắt khe của học phần:</a:t>
            </a:r>
          </a:p>
          <a:p>
            <a:pPr algn="ctr">
              <a:spcAft>
                <a:spcPts val="3000"/>
              </a:spcAft>
              <a:defRPr sz="1600" b="1">
                <a:solidFill>
                  <a:srgbClr val="4ADE80"/>
                </a:solidFill>
              </a:defRPr>
            </a:pPr>
            <a:r>
              <a:t>✓ Ứng dụng động CSDL 3NF   ✓ Nginx SSL Proxy   ✓ Prometheus - Grafana - Loki   ✓ Khởi động 1 chạm</a:t>
            </a:r>
          </a:p>
          <a:p>
            <a:pPr algn="ctr">
              <a:defRPr sz="2800" b="1">
                <a:solidFill>
                  <a:srgbClr val="FBBF24"/>
                </a:solidFill>
              </a:defRPr>
            </a:pPr>
            <a:r>
              <a:t>XIN TRÂN TRỌNG CẢM ƠN QUÝ THẦY CÔ HỘI ĐỒNG!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